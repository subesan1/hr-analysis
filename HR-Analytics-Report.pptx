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Geist" panose="020B0604020202020204" charset="0"/>
      <p:regular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7D72"/>
    <a:srgbClr val="111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12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81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5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4340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6466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910742"/>
            <a:ext cx="12070080" cy="4279392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9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5343754"/>
            <a:ext cx="12070080" cy="13716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69538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6734" y="2214881"/>
            <a:ext cx="5925312" cy="4828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1504" y="2214882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060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504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504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5525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7382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3821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4860949" cy="822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848085" y="0"/>
            <a:ext cx="7681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1"/>
            <a:ext cx="3840480" cy="2743200"/>
          </a:xfrm>
        </p:spPr>
        <p:txBody>
          <a:bodyPr anchor="b">
            <a:norm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0" y="877824"/>
            <a:ext cx="7790688" cy="6309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3511296"/>
            <a:ext cx="3840480" cy="405494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8614" y="7751743"/>
            <a:ext cx="3142212" cy="438150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60720" y="7751743"/>
            <a:ext cx="5577840" cy="4381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709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9" y="5898091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7" y="6089904"/>
            <a:ext cx="12136374" cy="987552"/>
          </a:xfrm>
        </p:spPr>
        <p:txBody>
          <a:bodyPr tIns="0" bIns="0" anchor="b">
            <a:noAutofit/>
          </a:bodyPr>
          <a:lstStyle>
            <a:lvl1pPr>
              <a:defRPr sz="432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" y="0"/>
            <a:ext cx="14630382" cy="5898091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6736" y="7088429"/>
            <a:ext cx="12135917" cy="7132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720"/>
              </a:spcAft>
              <a:buNone/>
              <a:defRPr sz="1800">
                <a:solidFill>
                  <a:schemeClr val="tx1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1094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061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4762"/>
            <a:ext cx="3154680" cy="6911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4762"/>
            <a:ext cx="9281160" cy="691187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224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828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0620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923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042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4226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1561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8171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72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601179"/>
            <a:ext cx="14630400" cy="797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4881"/>
            <a:ext cx="12070080" cy="48280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6737" y="7751743"/>
            <a:ext cx="29667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3422" y="7751743"/>
            <a:ext cx="57873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550" y="7751743"/>
            <a:ext cx="15744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32238" y="2085414"/>
            <a:ext cx="119603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97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</p:sldLayoutIdLst>
  <p:hf sldNum="0" hdr="0" ftr="0" dt="0"/>
  <p:txStyles>
    <p:titleStyle>
      <a:lvl1pPr algn="l" defTabSz="1097280" rtl="0" eaLnBrk="1" latinLnBrk="0" hangingPunct="1">
        <a:lnSpc>
          <a:spcPct val="85000"/>
        </a:lnSpc>
        <a:spcBef>
          <a:spcPct val="0"/>
        </a:spcBef>
        <a:buNone/>
        <a:defRPr sz="5760" kern="1200" spc="-6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6085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031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9977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19226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56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8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0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3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63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36091"/>
            <a:ext cx="7556421" cy="2948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HR Analysis Report: </a:t>
            </a:r>
          </a:p>
          <a:p>
            <a:pPr marL="0" indent="0" algn="l">
              <a:lnSpc>
                <a:spcPts val="580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Insights &amp; Strategic Recommendations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5624717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Subesan T P  | Month &amp; Year : January 2026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FE2E1-07CD-AF02-8203-D6E3F440AFF5}"/>
              </a:ext>
            </a:extLst>
          </p:cNvPr>
          <p:cNvSpPr/>
          <p:nvPr/>
        </p:nvSpPr>
        <p:spPr>
          <a:xfrm>
            <a:off x="12813175" y="7779675"/>
            <a:ext cx="1701478" cy="462987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0" y="0"/>
            <a:ext cx="14518719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7318" y="732353"/>
            <a:ext cx="7782163" cy="126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8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KPI Dashboard: A Snapshot of Our Workforce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67318" y="2385893"/>
            <a:ext cx="3769519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22,214</a:t>
            </a:r>
            <a:endParaRPr lang="en-US" sz="5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36093" y="3271004"/>
            <a:ext cx="2431971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Total Employees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67318" y="3703796"/>
            <a:ext cx="3769519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Our global team continues to grow, reflecting our expanding operations.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79963" y="2385893"/>
            <a:ext cx="3769519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38.52</a:t>
            </a:r>
            <a:endParaRPr lang="en-US" sz="5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848737" y="3271004"/>
            <a:ext cx="2431971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Average Age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79963" y="3703796"/>
            <a:ext cx="3769519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 balanced mix of experience and fresh perspectives across the organization.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67318" y="4695944"/>
            <a:ext cx="3769519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24.65%</a:t>
            </a:r>
            <a:endParaRPr lang="en-US" sz="5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836093" y="5581055"/>
            <a:ext cx="2431971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Remote Workforce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167318" y="6013847"/>
            <a:ext cx="3769519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 significant portion of our employees benefit from flexible work arrangements.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79963" y="4695944"/>
            <a:ext cx="3769519" cy="64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50"/>
              </a:lnSpc>
              <a:buNone/>
            </a:pPr>
            <a:r>
              <a:rPr lang="en-US" sz="50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75.35%</a:t>
            </a:r>
            <a:endParaRPr lang="en-US" sz="5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822900" y="5581055"/>
            <a:ext cx="2483644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Headquarters-Based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79963" y="6013847"/>
            <a:ext cx="3769519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 majority of our talent remains concentrated at our primary locations.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167318" y="6738461"/>
            <a:ext cx="7782163" cy="758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This snapshot highlights key characteristics, indicating opportunities for both location and age-based talent strategies. Understanding these metrics is crucial for targeted HR initiatives.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99E70D-83AC-E02D-7455-CD89BE1B9FA3}"/>
              </a:ext>
            </a:extLst>
          </p:cNvPr>
          <p:cNvSpPr/>
          <p:nvPr/>
        </p:nvSpPr>
        <p:spPr>
          <a:xfrm>
            <a:off x="12732152" y="7674015"/>
            <a:ext cx="1898248" cy="505778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133" y="373182"/>
            <a:ext cx="10373320" cy="456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75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Hiring Trend Analysis: Sustained Growth &amp; Talent Investment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41" y="934440"/>
            <a:ext cx="11548410" cy="52704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3509" y="6607914"/>
            <a:ext cx="14316891" cy="77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 line chart illustrates a significant hiring surge in the early 2000s to 2010s, indicative of a rapid growth phase. We have consistently maintained a strong hiring pipeline, bringing in over 1,000 new employees annually, showcasing sustained talent investment.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07E3E1-7BD8-0A4E-FF29-0473F20B024A}"/>
              </a:ext>
            </a:extLst>
          </p:cNvPr>
          <p:cNvSpPr/>
          <p:nvPr/>
        </p:nvSpPr>
        <p:spPr>
          <a:xfrm>
            <a:off x="12046747" y="7707614"/>
            <a:ext cx="2471987" cy="455868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3579"/>
            <a:ext cx="130428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Gender &amp; Diversity Overview: Balanced Representation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83123"/>
            <a:ext cx="6924437" cy="36203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06943" y="673393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0297A"/>
          </a:solidFill>
          <a:ln/>
        </p:spPr>
      </p:sp>
      <p:sp>
        <p:nvSpPr>
          <p:cNvPr id="5" name="Text 2"/>
          <p:cNvSpPr/>
          <p:nvPr/>
        </p:nvSpPr>
        <p:spPr>
          <a:xfrm>
            <a:off x="2494717" y="6733937"/>
            <a:ext cx="5055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3733324" y="673393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0051F3"/>
          </a:solidFill>
          <a:ln/>
        </p:spPr>
      </p:sp>
      <p:sp>
        <p:nvSpPr>
          <p:cNvPr id="7" name="Text 4"/>
          <p:cNvSpPr/>
          <p:nvPr/>
        </p:nvSpPr>
        <p:spPr>
          <a:xfrm>
            <a:off x="4021098" y="6733937"/>
            <a:ext cx="75747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511641" y="6733937"/>
            <a:ext cx="226814" cy="226814"/>
          </a:xfrm>
          <a:prstGeom prst="roundRect">
            <a:avLst>
              <a:gd name="adj" fmla="val 8063"/>
            </a:avLst>
          </a:prstGeom>
          <a:solidFill>
            <a:srgbClr val="6D9DFF"/>
          </a:solidFill>
          <a:ln/>
        </p:spPr>
      </p:sp>
      <p:sp>
        <p:nvSpPr>
          <p:cNvPr id="9" name="Text 6"/>
          <p:cNvSpPr/>
          <p:nvPr/>
        </p:nvSpPr>
        <p:spPr>
          <a:xfrm>
            <a:off x="5799415" y="6733937"/>
            <a:ext cx="173152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Non-Conforming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279249" y="3054787"/>
            <a:ext cx="3402330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6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Key Insight: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79249" y="3723918"/>
            <a:ext cx="5564862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Our workforce demonstrates nearly balanced gender representation, a significant competitive advantage that fosters diverse perspectives and innovation.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79249" y="4835128"/>
            <a:ext cx="4652724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6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Strategic Recommendation: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79249" y="5504259"/>
            <a:ext cx="5564862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Conduct a deeper audit of gender representation across seniority levels and specific departments to ensure equity and identify areas for targeted development.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5431E1-2DD2-1558-DA4E-D8F04D139954}"/>
              </a:ext>
            </a:extLst>
          </p:cNvPr>
          <p:cNvSpPr/>
          <p:nvPr/>
        </p:nvSpPr>
        <p:spPr>
          <a:xfrm>
            <a:off x="12766876" y="7697165"/>
            <a:ext cx="1782501" cy="532435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12338"/>
            <a:ext cx="10919222" cy="723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3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Geographic &amp; Departmental Distribution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7003" y="1736764"/>
            <a:ext cx="13071634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Our workforce concentration reveals key operational hubs and strategic talent centers.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83" y="2571750"/>
            <a:ext cx="6264235" cy="35079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9383" y="6330196"/>
            <a:ext cx="2783681" cy="361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Employees by State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9383" y="6914674"/>
            <a:ext cx="6264235" cy="57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Ohio remains our primary talent hub, indicating a significant geographical concentration.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4402" y="2571750"/>
            <a:ext cx="6264235" cy="35079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94402" y="6330196"/>
            <a:ext cx="3585329" cy="361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5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Employees by Department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594402" y="6914674"/>
            <a:ext cx="6264235" cy="578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Engineering is our largest department, highlighting our focus on technical innovation.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B6BF1C-CF80-5096-DB0F-D2A4CC512489}"/>
              </a:ext>
            </a:extLst>
          </p:cNvPr>
          <p:cNvSpPr/>
          <p:nvPr/>
        </p:nvSpPr>
        <p:spPr>
          <a:xfrm>
            <a:off x="12801600" y="7731889"/>
            <a:ext cx="1747777" cy="416688"/>
          </a:xfrm>
          <a:prstGeom prst="round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1242" y="330875"/>
            <a:ext cx="13366351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Racial Diversity Analysis: Fostering an Inclusive Environment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005" y="1131835"/>
            <a:ext cx="9039827" cy="45961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4069" y="5574905"/>
            <a:ext cx="2973089" cy="406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Key Insight: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833201" y="6037205"/>
            <a:ext cx="10665405" cy="24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Our organization boasts a diverse workforce with broad representation across various racial and ethnic backgrounds.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24069" y="6584795"/>
            <a:ext cx="2702248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2F5FA"/>
                </a:solidFill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Action Item: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33201" y="6961717"/>
            <a:ext cx="12415234" cy="31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2000" dirty="0">
                <a:solidFill>
                  <a:srgbClr val="EBEDF0"/>
                </a:solidFill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Continuously monitor representation equity across all departments and leadership levels to ensure fair opportunities and an inclusive culture for everyone.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8E7937-83FD-7627-1080-024A65157ED3}"/>
              </a:ext>
            </a:extLst>
          </p:cNvPr>
          <p:cNvSpPr/>
          <p:nvPr/>
        </p:nvSpPr>
        <p:spPr>
          <a:xfrm>
            <a:off x="12766876" y="7743239"/>
            <a:ext cx="1736202" cy="393764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219" y="423208"/>
            <a:ext cx="13223081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Key Insights &amp; Strategic Findings: Shaping Our Future Workforce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586" y="2144673"/>
            <a:ext cx="301585" cy="3015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5515" y="2132112"/>
            <a:ext cx="372260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Workforce Concentration Risk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265515" y="2579430"/>
            <a:ext cx="1256978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High employee density in Ohio suggests potential vulnerability to regional economic shifts or talent market changes.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586" y="3255407"/>
            <a:ext cx="301585" cy="3015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65515" y="3242846"/>
            <a:ext cx="402240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Engineering-Driven Organization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265515" y="3690164"/>
            <a:ext cx="1256978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The large Engineering department indicates a strong focus on innovation and product development.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586" y="4366141"/>
            <a:ext cx="301585" cy="3015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65515" y="4353580"/>
            <a:ext cx="251329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Strong Diversity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265515" y="4800898"/>
            <a:ext cx="1256978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Commendable gender balance and racial diversity provide a strong foundation for an inclusive culture.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586" y="5476875"/>
            <a:ext cx="301585" cy="30158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65515" y="5464314"/>
            <a:ext cx="2513290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Aging Workforce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265515" y="5911632"/>
            <a:ext cx="12569785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An average age of 38.5 years highlights the critical need for proactive succession planning and knowledge transfer strategies.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586" y="6587609"/>
            <a:ext cx="301585" cy="30158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65515" y="6575048"/>
            <a:ext cx="32189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Remote Work Opportunity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265515" y="7022366"/>
            <a:ext cx="12569785" cy="522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Geist" pitchFamily="34" charset="-122"/>
                <a:cs typeface="Times New Roman" panose="02020603050405020304" pitchFamily="18" charset="0"/>
              </a:rPr>
              <a:t>With ~25% remote employees, there's significant room to expand remote adoption, fostering flexibility and accessing broader talent pools.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98E884-2FB7-2556-FBAC-61F6624D6E04}"/>
              </a:ext>
            </a:extLst>
          </p:cNvPr>
          <p:cNvSpPr/>
          <p:nvPr/>
        </p:nvSpPr>
        <p:spPr>
          <a:xfrm>
            <a:off x="12733309" y="7706916"/>
            <a:ext cx="1805651" cy="522684"/>
          </a:xfrm>
          <a:prstGeom prst="rect">
            <a:avLst/>
          </a:prstGeom>
          <a:solidFill>
            <a:srgbClr val="6B7D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58</TotalTime>
  <Words>441</Words>
  <Application>Microsoft Office PowerPoint</Application>
  <PresentationFormat>Custom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 Light</vt:lpstr>
      <vt:lpstr>Calibri</vt:lpstr>
      <vt:lpstr>Times New Roman</vt:lpstr>
      <vt:lpstr>Geist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Subesan Rohit</cp:lastModifiedBy>
  <cp:revision>7</cp:revision>
  <dcterms:created xsi:type="dcterms:W3CDTF">2026-01-05T06:59:43Z</dcterms:created>
  <dcterms:modified xsi:type="dcterms:W3CDTF">2026-01-27T17:21:55Z</dcterms:modified>
</cp:coreProperties>
</file>